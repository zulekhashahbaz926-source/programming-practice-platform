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Zyntriva Semester 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concise overview of the desktop application, UML architecture, testing, and software engineering project requirements.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Process Model Selection and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Chosen model: Agile-inspired iterative process.</a:t>
            </a:r>
          </a:p>
          <a:p>
            <a:pPr>
              <a:defRPr sz="1800"/>
            </a:pPr>
            <a:r>
              <a:t>Justification: supports evolving requirements, frequent feedback, modular development, and regular refactoring.</a:t>
            </a:r>
          </a:p>
          <a:p>
            <a:pPr>
              <a:defRPr sz="1800"/>
            </a:pPr>
            <a:r>
              <a:t>Evidence from the project: iterative module delivery, seed data updates, sprint-style feature additions, and SPI adjustments.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Software Process Improvement (SPI)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SPI activities performed: code refactoring, increased test coverage, UI improvement, and logging enhancement.</a:t>
            </a:r>
          </a:p>
          <a:p>
            <a:pPr>
              <a:defRPr sz="1800"/>
            </a:pPr>
            <a:r>
              <a:t>How improvement was tracked: database review records, test status records, and commit history.</a:t>
            </a:r>
          </a:p>
          <a:p>
            <a:pPr>
              <a:defRPr sz="1800"/>
            </a:pPr>
            <a:r>
              <a:t>Project outcome: more maintainable code, improved validation, and a stronger QA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Version Control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Simulated Git-style version control in the `modules/version_control.py` and database `commits` table.</a:t>
            </a:r>
          </a:p>
          <a:p>
            <a:pPr>
              <a:defRPr sz="1800"/>
            </a:pPr>
            <a:r>
              <a:t>Features: commit history viewer, branch explanation, and change record tracking.</a:t>
            </a:r>
          </a:p>
          <a:p>
            <a:pPr>
              <a:defRPr sz="1800"/>
            </a:pPr>
            <a:r>
              <a:t>Academic justification: demonstrates version tracking and release management concepts.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Lehman’s Law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Evidence of continuous system evolution: new modules, UI enhancements, and improved testing over time.</a:t>
            </a:r>
          </a:p>
          <a:p>
            <a:pPr>
              <a:defRPr sz="1800"/>
            </a:pPr>
            <a:r>
              <a:t>Feature expansion: added process models, refactoring lab, exception lab, peer review module, deployment planning, and team management.</a:t>
            </a:r>
          </a:p>
          <a:p>
            <a:pPr>
              <a:defRPr sz="1800"/>
            </a:pPr>
            <a:r>
              <a:t>Complexity management: modular architecture and refactoring to keep growth sustainable.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Deployment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Deployment plan: package the application using PyInstaller for Windows executable.</a:t>
            </a:r>
          </a:p>
          <a:p>
            <a:pPr>
              <a:defRPr sz="1800"/>
            </a:pPr>
            <a:r>
              <a:t>Deployment topics covered: packaging, installers, release notes, and environment setup.</a:t>
            </a:r>
          </a:p>
          <a:p>
            <a:pPr>
              <a:defRPr sz="1800"/>
            </a:pPr>
            <a:r>
              <a:t>If applicable: desktop shortcut creation, configuration file generation, and a repeatable build process.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Refactoring and Legacy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Evidence of refactoring: modular code organization, separation of controllers and views, and utility helpers.</a:t>
            </a:r>
          </a:p>
          <a:p>
            <a:pPr>
              <a:defRPr sz="1800"/>
            </a:pPr>
            <a:r>
              <a:t>Legacy removal: replaced generic error handling with custom exceptions; improved validation and database error transparency.</a:t>
            </a:r>
          </a:p>
          <a:p>
            <a:pPr>
              <a:defRPr sz="1800"/>
            </a:pPr>
            <a:r>
              <a:t>Benefits: easier maintenance, improved readability, and better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UML Diagram</a:t>
            </a:r>
          </a:p>
        </p:txBody>
      </p:sp>
      <p:pic>
        <p:nvPicPr>
          <p:cNvPr id="3" name="Picture Placeholder 2" descr="uml_use_cas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2500" r="1250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UML Diagram</a:t>
            </a:r>
          </a:p>
        </p:txBody>
      </p:sp>
      <p:pic>
        <p:nvPicPr>
          <p:cNvPr id="3" name="Picture Placeholder 2" descr="uml_class_diagram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2500" r="1250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UML Diagram</a:t>
            </a:r>
          </a:p>
        </p:txBody>
      </p:sp>
      <p:pic>
        <p:nvPicPr>
          <p:cNvPr id="3" name="Picture Placeholder 2" descr="uml_activity_diagram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2500" r="1250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UML Diagram</a:t>
            </a:r>
          </a:p>
        </p:txBody>
      </p:sp>
      <p:pic>
        <p:nvPicPr>
          <p:cNvPr id="3" name="Picture Placeholder 2" descr="uml_sequence_diagram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2500" r="1250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